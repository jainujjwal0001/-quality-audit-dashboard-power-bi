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Fira Sans"/>
      <p:regular r:id="rId201314"/>
    </p:embeddedFont>
    <p:embeddedFont>
      <p:font typeface="Fira Sans Bold"/>
      <p:regular r:id="rId201315"/>
    </p:embeddedFont>
    <p:embeddedFont>
      <p:font typeface="Fira Sans Black"/>
      <p:regular r:id="rId201316"/>
    </p:embeddedFont>
    <p:embeddedFont>
      <p:font typeface="Inconsolata"/>
      <p:regular r:id="rId201317"/>
    </p:embeddedFont>
    <p:embeddedFont>
      <p:font typeface="Inconsolata Black"/>
      <p:regular r:id="rId201318"/>
    </p:embeddedFont>
    <p:embeddedFont>
      <p:font typeface="Inconsolata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image" Target="../media/image-8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793453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Quality &amp; Performance Executive Summary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2754585"/>
            <a:ext cx="47227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High-level snapshot: sample_total = 44K; quality_score = 73.38%; defects_% = 18.88%; error_% = 7.75%. These KPIs frame the report and drive the improvement agenda for operations, audits, and managers across locations.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570384"/>
            <a:ext cx="4722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Key Metrics at a Glance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496119" y="1143967"/>
            <a:ext cx="4722763" cy="714673"/>
          </a:xfrm>
          <a:prstGeom prst="roundRect">
            <a:avLst>
              <a:gd name="adj" fmla="val 2604"/>
            </a:avLst>
          </a:prstGeom>
          <a:solidFill>
            <a:srgbClr val="433550"/>
          </a:solidFill>
          <a:ln/>
        </p:spPr>
      </p:sp>
      <p:sp>
        <p:nvSpPr>
          <p:cNvPr id="5" name="Text 2"/>
          <p:cNvSpPr/>
          <p:nvPr/>
        </p:nvSpPr>
        <p:spPr>
          <a:xfrm>
            <a:off x="620092" y="1267941"/>
            <a:ext cx="447481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Samples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20092" y="1536204"/>
            <a:ext cx="447481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44K total samples processed — the volume underpinning all rate calculations.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496119" y="1982614"/>
            <a:ext cx="4722763" cy="714673"/>
          </a:xfrm>
          <a:prstGeom prst="roundRect">
            <a:avLst>
              <a:gd name="adj" fmla="val 2604"/>
            </a:avLst>
          </a:prstGeom>
          <a:solidFill>
            <a:srgbClr val="433550"/>
          </a:solidFill>
          <a:ln/>
        </p:spPr>
      </p:sp>
      <p:sp>
        <p:nvSpPr>
          <p:cNvPr id="8" name="Text 5"/>
          <p:cNvSpPr/>
          <p:nvPr/>
        </p:nvSpPr>
        <p:spPr>
          <a:xfrm>
            <a:off x="620092" y="2106588"/>
            <a:ext cx="447481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Quality Score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20092" y="2374850"/>
            <a:ext cx="447481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Overall quality score: 73.38% — primary performance indicator for the program.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96119" y="2821260"/>
            <a:ext cx="4722763" cy="913135"/>
          </a:xfrm>
          <a:prstGeom prst="roundRect">
            <a:avLst>
              <a:gd name="adj" fmla="val 2038"/>
            </a:avLst>
          </a:prstGeom>
          <a:solidFill>
            <a:srgbClr val="433550"/>
          </a:solidFill>
          <a:ln/>
        </p:spPr>
      </p:sp>
      <p:sp>
        <p:nvSpPr>
          <p:cNvPr id="11" name="Text 8"/>
          <p:cNvSpPr/>
          <p:nvPr/>
        </p:nvSpPr>
        <p:spPr>
          <a:xfrm>
            <a:off x="620092" y="2945234"/>
            <a:ext cx="447481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Defects %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0092" y="3213497"/>
            <a:ext cx="447481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Defects rate: 18.88% — largest contributor to quality loss and priority for reduction.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96119" y="3858369"/>
            <a:ext cx="4722763" cy="714673"/>
          </a:xfrm>
          <a:prstGeom prst="roundRect">
            <a:avLst>
              <a:gd name="adj" fmla="val 2604"/>
            </a:avLst>
          </a:prstGeom>
          <a:solidFill>
            <a:srgbClr val="433550"/>
          </a:solidFill>
          <a:ln/>
        </p:spPr>
      </p:sp>
      <p:sp>
        <p:nvSpPr>
          <p:cNvPr id="14" name="Text 11"/>
          <p:cNvSpPr/>
          <p:nvPr/>
        </p:nvSpPr>
        <p:spPr>
          <a:xfrm>
            <a:off x="620092" y="3982343"/>
            <a:ext cx="447481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Error %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20092" y="4250606"/>
            <a:ext cx="447481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Error rate: 7.75% — actionable metric for training and process controls.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1114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Monthly Trend — Errors vs Defects</a:t>
            </a:r>
            <a:endParaRPr lang="en-US" sz="1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596950"/>
            <a:ext cx="8151763" cy="45649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5196706"/>
            <a:ext cx="8608963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Monthly comparison of Error % (dark series) and Defects % (light series). Defects consistently exceed errors; peaks occur in March, June, and October–November. Use monthly pattern to prioritize deep-dive root-cause analysis.</a:t>
            </a:r>
            <a:endParaRPr lang="en-US" sz="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595164"/>
            <a:ext cx="4722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Error Rate — Monthly Profile</a:t>
            </a:r>
            <a:endParaRPr lang="en-US" sz="24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19" y="1168747"/>
            <a:ext cx="4722763" cy="26446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6119" y="3952949"/>
            <a:ext cx="47227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Single-series view highlights error spikes in March and June (≈10.4% and 10.11%). Targeted interventions (training, process checks) should focus around these months and any recurring contributors.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297260"/>
            <a:ext cx="4722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Geography &amp; Location Summary</a:t>
            </a:r>
            <a:endParaRPr lang="en-US" sz="24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1870844"/>
            <a:ext cx="310083" cy="31008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390206" y="1870844"/>
            <a:ext cx="425767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Locations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4390206" y="2139107"/>
            <a:ext cx="4257675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Australia, China, United Kingdom, United States — each location shares the same aggregate metrics in this dataset: sample_% 24.21%, defects_% 18.88%, error_% 7.75%, quality_score 73.38%.</a:t>
            </a:r>
            <a:endParaRPr lang="en-US" sz="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2982516"/>
            <a:ext cx="310083" cy="31008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390206" y="2982516"/>
            <a:ext cx="425767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Interpretation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4390206" y="3250778"/>
            <a:ext cx="4257675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Identical aggregates suggest either normalized reporting or consolidated roll-up — investigate local variance and data normalization rules to reveal hidden hotspots.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01389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Department Performance Snapshot</a:t>
            </a:r>
            <a:endParaRPr lang="en-US" sz="24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5119" y="1362521"/>
            <a:ext cx="4722763" cy="26446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925119" y="4146724"/>
            <a:ext cx="47227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Sales leads in quality (78.35%), followed by Finance (71.88%) and Backoffice (70.03%). These gaps indicate opportunities to transfer best practices from Sales to other departments to lift overall quality.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1114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Manager-Level Quality Distribution</a:t>
            </a:r>
            <a:endParaRPr lang="en-US" sz="1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596950"/>
            <a:ext cx="8151763" cy="45649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5196706"/>
            <a:ext cx="8608963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Manager scores range ~53%–88%. Spotlight top performers (Diana Mark, Nicholas Justin, Karen Nathan) for cross-training; address managers below 65% with coaching and targeted action plans.</a:t>
            </a:r>
            <a:endParaRPr lang="en-US" sz="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3153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Employee-Level Uniformity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098724"/>
            <a:ext cx="81517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employee list in the dataset shows numerous individuals (e.g., Aaron Philip through Jonathan Willie) each attributed an aggregate quality score of 73.38%. This uniformity suggests consolidated averaging or a default assignment — verify raw records to confirm individual variation and avoid masking outliers.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881" y="1914079"/>
            <a:ext cx="2647950" cy="264795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8025" y="1914079"/>
            <a:ext cx="2647950" cy="264795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5169" y="1914079"/>
            <a:ext cx="2647950" cy="26479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344388"/>
            <a:ext cx="4722763" cy="6783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Detailed Visuals — Distribution &amp; Samples</a:t>
            </a:r>
            <a:endParaRPr lang="en-US" sz="21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378" y="1165175"/>
            <a:ext cx="4674171" cy="303869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35968" y="2812489"/>
            <a:ext cx="1404493" cy="175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Sample vs Defects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2524481" y="1819591"/>
            <a:ext cx="1161048" cy="351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Error Count Bubbles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3885279" y="2800005"/>
            <a:ext cx="1048688" cy="175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Clusters 0–30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2624356" y="3405497"/>
            <a:ext cx="986266" cy="175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Defects 0–8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96119" y="4310658"/>
            <a:ext cx="4722763" cy="4884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bubble visualization maps sum of errors by sample and defects. Use this to identify clusters of high-defect samples and prioritize sampling strategy or process audits where bubbles concentrate densely.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349225"/>
            <a:ext cx="4722763" cy="327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Conclusions &amp; Next Steps</a:t>
            </a:r>
            <a:endParaRPr lang="en-US" sz="2050" dirty="0"/>
          </a:p>
        </p:txBody>
      </p:sp>
      <p:sp>
        <p:nvSpPr>
          <p:cNvPr id="4" name="Shape 1"/>
          <p:cNvSpPr/>
          <p:nvPr/>
        </p:nvSpPr>
        <p:spPr>
          <a:xfrm>
            <a:off x="3925119" y="808732"/>
            <a:ext cx="104626" cy="734541"/>
          </a:xfrm>
          <a:prstGeom prst="roundRect">
            <a:avLst>
              <a:gd name="adj" fmla="val 15005"/>
            </a:avLst>
          </a:prstGeom>
          <a:solidFill>
            <a:srgbClr val="433550"/>
          </a:solidFill>
          <a:ln/>
        </p:spPr>
      </p:sp>
      <p:sp>
        <p:nvSpPr>
          <p:cNvPr id="5" name="Text 2"/>
          <p:cNvSpPr/>
          <p:nvPr/>
        </p:nvSpPr>
        <p:spPr>
          <a:xfrm>
            <a:off x="4118000" y="913358"/>
            <a:ext cx="4529882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1. Validate Data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118000" y="1129829"/>
            <a:ext cx="4529882" cy="308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Confirm whether identical location and employee scores reflect true parity or data-normalization artifacts; audit raw records.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082058" y="1631528"/>
            <a:ext cx="104626" cy="734541"/>
          </a:xfrm>
          <a:prstGeom prst="roundRect">
            <a:avLst>
              <a:gd name="adj" fmla="val 15005"/>
            </a:avLst>
          </a:prstGeom>
          <a:solidFill>
            <a:srgbClr val="433550"/>
          </a:solidFill>
          <a:ln/>
        </p:spPr>
      </p:sp>
      <p:sp>
        <p:nvSpPr>
          <p:cNvPr id="8" name="Text 5"/>
          <p:cNvSpPr/>
          <p:nvPr/>
        </p:nvSpPr>
        <p:spPr>
          <a:xfrm>
            <a:off x="4274939" y="1736154"/>
            <a:ext cx="4372942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2. Targeted Root-Cause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274939" y="1952625"/>
            <a:ext cx="4372942" cy="308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Investigate March and June error/defect spikes and top defect contributors; run focused RCA sessions.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239071" y="2454325"/>
            <a:ext cx="104626" cy="734541"/>
          </a:xfrm>
          <a:prstGeom prst="roundRect">
            <a:avLst>
              <a:gd name="adj" fmla="val 15005"/>
            </a:avLst>
          </a:prstGeom>
          <a:solidFill>
            <a:srgbClr val="433550"/>
          </a:solidFill>
          <a:ln/>
        </p:spPr>
      </p:sp>
      <p:sp>
        <p:nvSpPr>
          <p:cNvPr id="11" name="Text 8"/>
          <p:cNvSpPr/>
          <p:nvPr/>
        </p:nvSpPr>
        <p:spPr>
          <a:xfrm>
            <a:off x="4431953" y="2558951"/>
            <a:ext cx="4215929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3. Best-Practice Transfer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431953" y="2775421"/>
            <a:ext cx="4215929" cy="308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Leverage top managers' approaches (e.g., Diana Mark) to coach lower-performing teams and reduce defects.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396085" y="3277121"/>
            <a:ext cx="104626" cy="888950"/>
          </a:xfrm>
          <a:prstGeom prst="roundRect">
            <a:avLst>
              <a:gd name="adj" fmla="val 15005"/>
            </a:avLst>
          </a:prstGeom>
          <a:solidFill>
            <a:srgbClr val="433550"/>
          </a:solidFill>
          <a:ln/>
        </p:spPr>
      </p:sp>
      <p:sp>
        <p:nvSpPr>
          <p:cNvPr id="14" name="Text 11"/>
          <p:cNvSpPr/>
          <p:nvPr/>
        </p:nvSpPr>
        <p:spPr>
          <a:xfrm>
            <a:off x="4588966" y="3381747"/>
            <a:ext cx="4058915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4. Monitoring &amp; Controls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88966" y="3598218"/>
            <a:ext cx="4058915" cy="4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Implement targeted quality controls and monthly KPI reviews; aim to reduce defects_% from 18.88% and error_% from 7.75% while improving quality_score above 73.38%.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3925119" y="4265414"/>
            <a:ext cx="4722763" cy="528786"/>
          </a:xfrm>
          <a:prstGeom prst="roundRect">
            <a:avLst>
              <a:gd name="adj" fmla="val 2969"/>
            </a:avLst>
          </a:prstGeom>
          <a:solidFill>
            <a:srgbClr val="7B0448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9745" y="4409331"/>
            <a:ext cx="130820" cy="10462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265191" y="4379788"/>
            <a:ext cx="4278064" cy="308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Theme accent: #f94cafff used for emphasis in layout. Prioritize data validation before large-scale process changes.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2026-08-02T07:50:53Z</dcterms:created>
  <dcterms:modified xsi:type="dcterms:W3CDTF">2026-08-02T07:50:53Z</dcterms:modified>
</cp:coreProperties>
</file>